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4" r:id="rId3"/>
    <p:sldId id="257" r:id="rId4"/>
    <p:sldId id="258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04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5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5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5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7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0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1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3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0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13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6EDA81-49D6-11CA-D7AC-D5F82014B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954226"/>
            <a:ext cx="5555624" cy="2232199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GB" dirty="0"/>
              <a:t>Kit-for-kids: Build a Camera Kit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B04DE-505D-C90A-AFC8-6C6517E59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25465"/>
            <a:ext cx="5555624" cy="2063925"/>
          </a:xfrm>
        </p:spPr>
        <p:txBody>
          <a:bodyPr anchor="b">
            <a:normAutofit/>
          </a:bodyPr>
          <a:lstStyle/>
          <a:p>
            <a:pPr algn="l"/>
            <a:endParaRPr lang="en-GB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urful leaf patterns">
            <a:extLst>
              <a:ext uri="{FF2B5EF4-FFF2-40B4-BE49-F238E27FC236}">
                <a16:creationId xmlns:a16="http://schemas.microsoft.com/office/drawing/2014/main" id="{2C3A73C6-8B57-470E-783C-78128B7F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5" r="25528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2592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4E58-E4A6-FE0E-2880-A17AE0E3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93BD6-1DEE-089A-4BD3-181A536D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~5-10 min introduction from Tom</a:t>
            </a:r>
          </a:p>
          <a:p>
            <a:r>
              <a:rPr lang="en-GB" dirty="0"/>
              <a:t>~40 min group activity brainstorming what our kit-for-kids will look like</a:t>
            </a:r>
          </a:p>
        </p:txBody>
      </p:sp>
    </p:spTree>
    <p:extLst>
      <p:ext uri="{BB962C8B-B14F-4D97-AF65-F5344CB8AC3E}">
        <p14:creationId xmlns:p14="http://schemas.microsoft.com/office/powerpoint/2010/main" val="105742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678F73-9880-405C-9E21-2CC82BD04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1" y="1559140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2221D8-6DE7-9126-1196-A8D65F4E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2025"/>
            <a:ext cx="4952999" cy="2247616"/>
          </a:xfrm>
        </p:spPr>
        <p:txBody>
          <a:bodyPr>
            <a:normAutofit/>
          </a:bodyPr>
          <a:lstStyle/>
          <a:p>
            <a:r>
              <a:rPr lang="en-GB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BCB1F-5E36-AF86-9992-0895FB0B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52886"/>
            <a:ext cx="5930695" cy="381799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000" dirty="0"/>
              <a:t>1) InsectAI have a deliverable around this topic</a:t>
            </a:r>
          </a:p>
          <a:p>
            <a:pPr marL="0" lvl="2" indent="0">
              <a:lnSpc>
                <a:spcPct val="100000"/>
              </a:lnSpc>
              <a:buNone/>
            </a:pPr>
            <a:r>
              <a:rPr lang="en-GB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Publish open designs… codesign sprint with the maker community, such that the designs can be replicated by other makerspaces around the world</a:t>
            </a:r>
          </a:p>
          <a:p>
            <a:pPr marL="0" lvl="2" indent="0">
              <a:lnSpc>
                <a:spcPct val="100000"/>
              </a:lnSpc>
              <a:buNone/>
            </a:pPr>
            <a:endParaRPr lang="en-GB" dirty="0"/>
          </a:p>
          <a:p>
            <a:pPr marL="0" lvl="2" indent="0">
              <a:lnSpc>
                <a:spcPct val="100000"/>
              </a:lnSpc>
              <a:buNone/>
            </a:pPr>
            <a:r>
              <a:rPr lang="en-GB" dirty="0"/>
              <a:t>2) It is an opportunity to reach new audiences</a:t>
            </a:r>
          </a:p>
          <a:p>
            <a:pPr marL="0" lvl="2" indent="0">
              <a:lnSpc>
                <a:spcPct val="100000"/>
              </a:lnSpc>
              <a:buNone/>
            </a:pPr>
            <a:endParaRPr lang="en-GB" dirty="0"/>
          </a:p>
          <a:p>
            <a:pPr marL="0" lvl="2" indent="0">
              <a:lnSpc>
                <a:spcPct val="100000"/>
              </a:lnSpc>
              <a:buNone/>
            </a:pPr>
            <a:r>
              <a:rPr lang="en-GB" dirty="0"/>
              <a:t>3) It provides legacy for InsectAI</a:t>
            </a:r>
          </a:p>
          <a:p>
            <a:pPr marL="0" lvl="2" indent="0">
              <a:lnSpc>
                <a:spcPct val="100000"/>
              </a:lnSpc>
              <a:buNone/>
            </a:pPr>
            <a:endParaRPr lang="en-GB" dirty="0"/>
          </a:p>
          <a:p>
            <a:pPr marL="0" lvl="2" indent="0">
              <a:lnSpc>
                <a:spcPct val="100000"/>
              </a:lnSpc>
              <a:buNone/>
            </a:pPr>
            <a:r>
              <a:rPr lang="en-GB" dirty="0"/>
              <a:t>4) It is an opportunity to share knowledge and build collaborations</a:t>
            </a:r>
          </a:p>
        </p:txBody>
      </p:sp>
      <p:pic>
        <p:nvPicPr>
          <p:cNvPr id="5" name="Picture 4" descr="A video game of a forest&#10;&#10;Description automatically generated">
            <a:extLst>
              <a:ext uri="{FF2B5EF4-FFF2-40B4-BE49-F238E27FC236}">
                <a16:creationId xmlns:a16="http://schemas.microsoft.com/office/drawing/2014/main" id="{2DDE0935-5767-C10B-FBEE-845FF247A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20" r="12444" b="1"/>
          <a:stretch/>
        </p:blipFill>
        <p:spPr>
          <a:xfrm>
            <a:off x="6751869" y="-294463"/>
            <a:ext cx="6129950" cy="7177250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589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DEDD41-6D1D-4433-9F7C-7667B5142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27C63-BD2A-4520-9061-C7ACB6DED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B653E9-2995-461A-9C83-38C4BA6F5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1856C3-3D04-4950-BB82-2FCCE7967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DBFD36-80D6-4CA3-9566-D110A50C3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BE01EF-C80B-4E45-B81D-C5C221793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B675F51-DB44-4727-BBC8-75FF2012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22DE62-69D6-4E96-9F40-99D23AD18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C586B7-F196-4CAD-824C-49D0F37C8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905207-F5AE-4DE4-89E6-CA26B8B2D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C070939-2DAA-400E-B84E-B2231F7F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34A940-918D-44F8-A7F3-EFCF2536F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457D38-2FD0-4614-AC99-692A2740A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2939BC2-81A1-4C21-A0DB-3C2EF2D1A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D59E3C0-12A3-4208-9081-DB67F4E28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C20A608-1DF1-4559-A7E4-283B0CF44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4A63DDB-8D69-4EA3-9F08-8976C086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DD4EB1-0BC4-4D93-BECE-D87CB3A57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5B22AC-ED15-4F03-912F-1F00518E8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7618BC-C25B-4F38-A366-2BEFD0D90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BCAFE3-32E9-4BAB-8F17-24E5DDAFE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9D57C21-1C09-41A2-AC87-5A1BFEB6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FA8924E-FA40-49EA-A9D8-058CC59F9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1160839-1C5C-4A97-8C92-A0DF4957B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E11515-664E-44C3-9BA8-723F44488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F0C5201-6B21-4ADE-8531-A1FAB4D20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E2AD-C5DE-499C-91E5-EA84806EE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6E805CF-4DDE-40BC-B1CE-82E4A92D9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31D1AB-DC50-400F-AD4F-522E86385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7DF747-28C5-4839-A849-D8E4D085A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BBD0C3-D67F-435A-B9E8-610270A66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CD94F40-2309-4F0A-8219-2B82C855E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CE6A29-44FD-3EC7-C2A7-24AB5E05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5807"/>
            <a:ext cx="5552414" cy="2722593"/>
          </a:xfrm>
        </p:spPr>
        <p:txBody>
          <a:bodyPr anchor="t">
            <a:normAutofit/>
          </a:bodyPr>
          <a:lstStyle/>
          <a:p>
            <a:r>
              <a:rPr lang="en-GB" dirty="0"/>
              <a:t>Mission</a:t>
            </a:r>
          </a:p>
        </p:txBody>
      </p:sp>
      <p:pic>
        <p:nvPicPr>
          <p:cNvPr id="5" name="Picture 4" descr="A person holding a box in his hand&#10;&#10;Description automatically generated">
            <a:extLst>
              <a:ext uri="{FF2B5EF4-FFF2-40B4-BE49-F238E27FC236}">
                <a16:creationId xmlns:a16="http://schemas.microsoft.com/office/drawing/2014/main" id="{B2FEE71E-2E34-2E71-7028-42AEDE49F1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8" b="21369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309FD50C-C421-4491-AD26-9E8AA38B8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8266" y="377971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86A9-28CA-D1C8-111B-D0D167F5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8" y="4744342"/>
            <a:ext cx="11484657" cy="1941941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dirty="0"/>
              <a:t>Develop an open, DIY, kit for building an automated insect trap, that will </a:t>
            </a:r>
            <a:r>
              <a:rPr lang="en-GB" b="1" dirty="0"/>
              <a:t>educate</a:t>
            </a:r>
            <a:r>
              <a:rPr lang="en-GB" dirty="0"/>
              <a:t> and </a:t>
            </a:r>
            <a:r>
              <a:rPr lang="en-GB" b="1" dirty="0"/>
              <a:t>inspire</a:t>
            </a:r>
            <a:r>
              <a:rPr lang="en-GB" dirty="0"/>
              <a:t> people with the world of insects</a:t>
            </a:r>
          </a:p>
        </p:txBody>
      </p:sp>
    </p:spTree>
    <p:extLst>
      <p:ext uri="{BB962C8B-B14F-4D97-AF65-F5344CB8AC3E}">
        <p14:creationId xmlns:p14="http://schemas.microsoft.com/office/powerpoint/2010/main" val="384173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05CA4C-4876-4E28-97E0-1162D662A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2E08B368-A2A8-4357-B416-37C258EFE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84712" y="-279398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Document 49">
            <a:extLst>
              <a:ext uri="{FF2B5EF4-FFF2-40B4-BE49-F238E27FC236}">
                <a16:creationId xmlns:a16="http://schemas.microsoft.com/office/drawing/2014/main" id="{A890253F-325A-4AC7-AF5F-06FB890E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CE6A29-44FD-3EC7-C2A7-24AB5E05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9"/>
            <a:ext cx="4952999" cy="224761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86A9-28CA-D1C8-111B-D0D167F5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52886"/>
            <a:ext cx="6104898" cy="38214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kit that children can build with supervision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Available at a allow cost – target under 50 Euros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built within a classroom session – about one hour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delivered in a small box</a:t>
            </a:r>
            <a:endParaRPr lang="en-GB" sz="20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Comes with materials about AI and insects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 are educated and inspired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Brings us together!</a:t>
            </a:r>
          </a:p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GB" sz="2000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a legacy</a:t>
            </a:r>
            <a:r>
              <a:rPr lang="en-GB" sz="2000" kern="100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InsectAI</a:t>
            </a:r>
            <a:endParaRPr lang="en-GB" sz="20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CF59F-2695-7E2F-EE31-279F30FD8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r="24301"/>
          <a:stretch/>
        </p:blipFill>
        <p:spPr bwMode="auto">
          <a:xfrm>
            <a:off x="7244386" y="465771"/>
            <a:ext cx="3764599" cy="3764599"/>
          </a:xfrm>
          <a:custGeom>
            <a:avLst/>
            <a:gdLst/>
            <a:ahLst/>
            <a:cxnLst/>
            <a:rect l="l" t="t" r="r" b="b"/>
            <a:pathLst>
              <a:path w="5777910" h="5777910">
                <a:moveTo>
                  <a:pt x="2888955" y="0"/>
                </a:moveTo>
                <a:cubicBezTo>
                  <a:pt x="4484481" y="0"/>
                  <a:pt x="5777910" y="1293429"/>
                  <a:pt x="5777910" y="2888955"/>
                </a:cubicBezTo>
                <a:cubicBezTo>
                  <a:pt x="5777910" y="4484481"/>
                  <a:pt x="4484481" y="5777910"/>
                  <a:pt x="2888955" y="5777910"/>
                </a:cubicBezTo>
                <a:cubicBezTo>
                  <a:pt x="1293429" y="5777910"/>
                  <a:pt x="0" y="4484481"/>
                  <a:pt x="0" y="2888955"/>
                </a:cubicBezTo>
                <a:cubicBezTo>
                  <a:pt x="0" y="1293429"/>
                  <a:pt x="1293429" y="0"/>
                  <a:pt x="2888955" y="0"/>
                </a:cubicBezTo>
                <a:close/>
              </a:path>
            </a:pathLst>
          </a:custGeom>
          <a:noFill/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C9C6893-0AB0-7D49-6135-3A459B3801B2}"/>
              </a:ext>
            </a:extLst>
          </p:cNvPr>
          <p:cNvGrpSpPr/>
          <p:nvPr/>
        </p:nvGrpSpPr>
        <p:grpSpPr>
          <a:xfrm>
            <a:off x="6599288" y="4839969"/>
            <a:ext cx="5031046" cy="1561484"/>
            <a:chOff x="7476822" y="5112328"/>
            <a:chExt cx="3275978" cy="10167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F7A150-A8EF-BDCB-52CF-E04048795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6822" y="5113104"/>
              <a:ext cx="921813" cy="9715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A4A8B9-1C38-FF86-AD62-27C14197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87267" y="5113104"/>
              <a:ext cx="1230419" cy="10159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3852CB-B239-D219-3044-BC26062D2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9758986" y="5090153"/>
              <a:ext cx="971640" cy="1015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47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41DD-1AE7-38A4-3CF0-AD76F0DA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task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9201A-6DD5-B978-8B34-D69890453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Brainstorming ideas that fit this scope</a:t>
            </a:r>
          </a:p>
          <a:p>
            <a:pPr marL="0" indent="0">
              <a:buNone/>
            </a:pPr>
            <a:r>
              <a:rPr lang="en-GB" dirty="0"/>
              <a:t>	- Suitable for Children </a:t>
            </a:r>
            <a:r>
              <a:rPr lang="en-GB" b="1" dirty="0"/>
              <a:t>8-12 years old</a:t>
            </a:r>
          </a:p>
          <a:p>
            <a:pPr marL="0" indent="0">
              <a:buNone/>
            </a:pPr>
            <a:r>
              <a:rPr lang="en-GB" dirty="0"/>
              <a:t>	-</a:t>
            </a:r>
            <a:r>
              <a:rPr lang="en-GB" b="1" dirty="0"/>
              <a:t> Educational </a:t>
            </a:r>
            <a:r>
              <a:rPr lang="en-GB" dirty="0"/>
              <a:t>and </a:t>
            </a:r>
            <a:r>
              <a:rPr lang="en-GB" b="1" dirty="0"/>
              <a:t>inspirational</a:t>
            </a:r>
          </a:p>
          <a:p>
            <a:pPr marL="0" indent="0">
              <a:buNone/>
            </a:pPr>
            <a:r>
              <a:rPr lang="en-GB" dirty="0"/>
              <a:t>	- Can be used in a classroom session of </a:t>
            </a:r>
            <a:r>
              <a:rPr lang="en-GB" b="1" dirty="0"/>
              <a:t>~60 min</a:t>
            </a:r>
          </a:p>
          <a:p>
            <a:pPr marL="0" indent="0">
              <a:buNone/>
            </a:pPr>
            <a:r>
              <a:rPr lang="en-GB" dirty="0"/>
              <a:t>	- Can be made at scale for </a:t>
            </a:r>
            <a:r>
              <a:rPr lang="en-GB" b="1" dirty="0"/>
              <a:t>&lt;50 Euro </a:t>
            </a:r>
            <a:r>
              <a:rPr lang="en-GB" dirty="0"/>
              <a:t>(target)</a:t>
            </a:r>
          </a:p>
        </p:txBody>
      </p:sp>
    </p:spTree>
    <p:extLst>
      <p:ext uri="{BB962C8B-B14F-4D97-AF65-F5344CB8AC3E}">
        <p14:creationId xmlns:p14="http://schemas.microsoft.com/office/powerpoint/2010/main" val="257903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7DDF-DB1B-C4A5-503A-EB6BFB14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Sheets explainer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2A140-5433-129B-9F4F-BFBFCE04C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7F2F0-CA44-232A-0C38-8372AAA863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F2FE4-9F8F-BEEF-5505-1CD79B9AA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A9222-87FC-16E9-0781-F5840714F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78778" y="1820862"/>
            <a:ext cx="3761111" cy="308768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Be creative, anything goes</a:t>
            </a:r>
          </a:p>
          <a:p>
            <a:r>
              <a:rPr lang="en-GB" dirty="0"/>
              <a:t>Work to your strengths</a:t>
            </a:r>
          </a:p>
          <a:p>
            <a:r>
              <a:rPr lang="en-GB" dirty="0"/>
              <a:t>Write it down</a:t>
            </a:r>
          </a:p>
          <a:p>
            <a:r>
              <a:rPr lang="en-GB" dirty="0"/>
              <a:t>Teams of 4-5 work best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B6387A-A13A-09E2-8CC9-EC9B3691D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11" y="1820863"/>
            <a:ext cx="3259359" cy="4596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071153-279A-C293-AFB9-2BF7168E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091" y="1820862"/>
            <a:ext cx="3236066" cy="459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0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1C9A-E66E-F938-0027-3CEFB713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9259-15D6-C7A0-6CA8-E42DF985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task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6716C-1E01-BBBF-AE8A-F8F60904B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Brainstorming ideas that fit this scope</a:t>
            </a:r>
          </a:p>
          <a:p>
            <a:pPr marL="0" indent="0">
              <a:buNone/>
            </a:pPr>
            <a:r>
              <a:rPr lang="en-GB" dirty="0"/>
              <a:t>	- Suitable for Children </a:t>
            </a:r>
            <a:r>
              <a:rPr lang="en-GB" b="1" dirty="0"/>
              <a:t>8-12 years old</a:t>
            </a:r>
          </a:p>
          <a:p>
            <a:pPr marL="0" indent="0">
              <a:buNone/>
            </a:pPr>
            <a:r>
              <a:rPr lang="en-GB" dirty="0"/>
              <a:t>	-</a:t>
            </a:r>
            <a:r>
              <a:rPr lang="en-GB" b="1" dirty="0"/>
              <a:t> Educational </a:t>
            </a:r>
            <a:r>
              <a:rPr lang="en-GB" dirty="0"/>
              <a:t>and </a:t>
            </a:r>
            <a:r>
              <a:rPr lang="en-GB" b="1" dirty="0"/>
              <a:t>inspirational</a:t>
            </a:r>
          </a:p>
          <a:p>
            <a:pPr marL="0" indent="0">
              <a:buNone/>
            </a:pPr>
            <a:r>
              <a:rPr lang="en-GB" dirty="0"/>
              <a:t>	- Can be used in a classroom session of </a:t>
            </a:r>
            <a:r>
              <a:rPr lang="en-GB" b="1" dirty="0"/>
              <a:t>~60 min</a:t>
            </a:r>
          </a:p>
          <a:p>
            <a:pPr marL="0" indent="0">
              <a:buNone/>
            </a:pPr>
            <a:r>
              <a:rPr lang="en-GB" dirty="0"/>
              <a:t>	- Can be made at scale for </a:t>
            </a:r>
            <a:r>
              <a:rPr lang="en-GB" b="1" dirty="0"/>
              <a:t>&lt;50 Euro </a:t>
            </a:r>
            <a:r>
              <a:rPr lang="en-GB" dirty="0"/>
              <a:t>(target)</a:t>
            </a:r>
          </a:p>
        </p:txBody>
      </p:sp>
    </p:spTree>
    <p:extLst>
      <p:ext uri="{BB962C8B-B14F-4D97-AF65-F5344CB8AC3E}">
        <p14:creationId xmlns:p14="http://schemas.microsoft.com/office/powerpoint/2010/main" val="2064127659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AnalogousFromLightSeed_2SEEDS">
      <a:dk1>
        <a:srgbClr val="000000"/>
      </a:dk1>
      <a:lt1>
        <a:srgbClr val="FFFFFF"/>
      </a:lt1>
      <a:dk2>
        <a:srgbClr val="413024"/>
      </a:dk2>
      <a:lt2>
        <a:srgbClr val="E2E6E8"/>
      </a:lt2>
      <a:accent1>
        <a:srgbClr val="D59164"/>
      </a:accent1>
      <a:accent2>
        <a:srgbClr val="DC8081"/>
      </a:accent2>
      <a:accent3>
        <a:srgbClr val="AFA266"/>
      </a:accent3>
      <a:accent4>
        <a:srgbClr val="52AFAF"/>
      </a:accent4>
      <a:accent5>
        <a:srgbClr val="69A8D6"/>
      </a:accent5>
      <a:accent6>
        <a:srgbClr val="6476D5"/>
      </a:accent6>
      <a:hlink>
        <a:srgbClr val="5986A5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288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Avenir Next LT Pro</vt:lpstr>
      <vt:lpstr>Calibri</vt:lpstr>
      <vt:lpstr>Posterama</vt:lpstr>
      <vt:lpstr>SineVTI</vt:lpstr>
      <vt:lpstr>Kit-for-kids: Build a Camera Kit</vt:lpstr>
      <vt:lpstr>Overview</vt:lpstr>
      <vt:lpstr>Why?</vt:lpstr>
      <vt:lpstr>Mission</vt:lpstr>
      <vt:lpstr>Objectives</vt:lpstr>
      <vt:lpstr>Today’s task</vt:lpstr>
      <vt:lpstr>Sheets explainer</vt:lpstr>
      <vt:lpstr>Today’s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Build-it-at-home insect camera trap</dc:title>
  <dc:creator>Tom August</dc:creator>
  <cp:lastModifiedBy>Tom August</cp:lastModifiedBy>
  <cp:revision>6</cp:revision>
  <dcterms:created xsi:type="dcterms:W3CDTF">2024-11-15T13:37:17Z</dcterms:created>
  <dcterms:modified xsi:type="dcterms:W3CDTF">2026-04-20T21:25:12Z</dcterms:modified>
</cp:coreProperties>
</file>