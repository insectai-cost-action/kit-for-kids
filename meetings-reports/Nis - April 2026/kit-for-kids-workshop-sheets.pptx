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Lst>
  <p:sldSz cx="10698163" cy="15087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9" d="100"/>
          <a:sy n="69" d="100"/>
        </p:scale>
        <p:origin x="85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B228D20-61BA-2A58-8E67-5407E4BF68D8}"/>
              </a:ext>
            </a:extLst>
          </p:cNvPr>
          <p:cNvSpPr/>
          <p:nvPr/>
        </p:nvSpPr>
        <p:spPr>
          <a:xfrm>
            <a:off x="456882" y="11738521"/>
            <a:ext cx="9784398" cy="2285999"/>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42214E30-9542-3E19-2E64-7EDCFCA7224B}"/>
              </a:ext>
            </a:extLst>
          </p:cNvPr>
          <p:cNvSpPr/>
          <p:nvPr/>
        </p:nvSpPr>
        <p:spPr>
          <a:xfrm>
            <a:off x="456883" y="6941552"/>
            <a:ext cx="4754563" cy="4481414"/>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0FEBAD1F-DF70-DFC6-BC71-1DEA0C874574}"/>
              </a:ext>
            </a:extLst>
          </p:cNvPr>
          <p:cNvSpPr/>
          <p:nvPr/>
        </p:nvSpPr>
        <p:spPr>
          <a:xfrm>
            <a:off x="457517" y="4437461"/>
            <a:ext cx="9783763" cy="2285999"/>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FAC87789-23F6-E13B-ABD1-3FAE8F6CEC64}"/>
              </a:ext>
            </a:extLst>
          </p:cNvPr>
          <p:cNvSpPr/>
          <p:nvPr/>
        </p:nvSpPr>
        <p:spPr>
          <a:xfrm>
            <a:off x="5486717" y="2214183"/>
            <a:ext cx="4754563" cy="1969890"/>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CF070CBD-8C23-A182-88B3-5D1A5AB7CDE1}"/>
              </a:ext>
            </a:extLst>
          </p:cNvPr>
          <p:cNvSpPr/>
          <p:nvPr/>
        </p:nvSpPr>
        <p:spPr>
          <a:xfrm>
            <a:off x="457200" y="2588029"/>
            <a:ext cx="4754563" cy="1596044"/>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extBox 1"/>
          <p:cNvSpPr txBox="1"/>
          <p:nvPr/>
        </p:nvSpPr>
        <p:spPr>
          <a:xfrm>
            <a:off x="1707763" y="437599"/>
            <a:ext cx="7282635" cy="615553"/>
          </a:xfrm>
          <a:prstGeom prst="rect">
            <a:avLst/>
          </a:prstGeom>
          <a:noFill/>
        </p:spPr>
        <p:txBody>
          <a:bodyPr wrap="none">
            <a:spAutoFit/>
          </a:bodyPr>
          <a:lstStyle/>
          <a:p>
            <a:pPr algn="ctr"/>
            <a:r>
              <a:rPr sz="3400" b="1" dirty="0"/>
              <a:t>InsectAI </a:t>
            </a:r>
            <a:r>
              <a:rPr lang="en-GB" sz="3400" b="1" dirty="0"/>
              <a:t>Kit-for-kids</a:t>
            </a:r>
            <a:r>
              <a:rPr sz="3400" b="1" dirty="0"/>
              <a:t>: Build a Camera Kit</a:t>
            </a:r>
          </a:p>
        </p:txBody>
      </p:sp>
      <p:sp>
        <p:nvSpPr>
          <p:cNvPr id="3" name="TextBox 2"/>
          <p:cNvSpPr txBox="1"/>
          <p:nvPr/>
        </p:nvSpPr>
        <p:spPr>
          <a:xfrm>
            <a:off x="457200" y="1280160"/>
            <a:ext cx="9784080" cy="646331"/>
          </a:xfrm>
          <a:prstGeom prst="rect">
            <a:avLst/>
          </a:prstGeom>
          <a:noFill/>
        </p:spPr>
        <p:txBody>
          <a:bodyPr wrap="square">
            <a:spAutoFit/>
          </a:bodyPr>
          <a:lstStyle/>
          <a:p>
            <a:r>
              <a:rPr b="0" dirty="0"/>
              <a:t>Design a low-cost insect camera system </a:t>
            </a:r>
            <a:r>
              <a:rPr lang="en-GB" b="0" dirty="0"/>
              <a:t>to </a:t>
            </a:r>
            <a:r>
              <a:rPr lang="en-GB" b="1" dirty="0"/>
              <a:t>educate and inspire </a:t>
            </a:r>
            <a:r>
              <a:rPr b="0" dirty="0"/>
              <a:t>school groups</a:t>
            </a:r>
            <a:r>
              <a:rPr lang="en-GB" b="0" dirty="0"/>
              <a:t> (age 8-12 years old) with computer vision and insects. Target – available for </a:t>
            </a:r>
            <a:r>
              <a:rPr lang="en-GB" b="1" dirty="0"/>
              <a:t>under €50</a:t>
            </a:r>
            <a:r>
              <a:rPr lang="en-GB" b="0" dirty="0"/>
              <a:t>, and can be built in </a:t>
            </a:r>
            <a:r>
              <a:rPr lang="en-GB" b="1" dirty="0"/>
              <a:t>under 60 min</a:t>
            </a:r>
            <a:endParaRPr b="1" dirty="0"/>
          </a:p>
        </p:txBody>
      </p:sp>
      <p:sp>
        <p:nvSpPr>
          <p:cNvPr id="4" name="TextBox 3"/>
          <p:cNvSpPr txBox="1"/>
          <p:nvPr/>
        </p:nvSpPr>
        <p:spPr>
          <a:xfrm>
            <a:off x="457200" y="2194560"/>
            <a:ext cx="3784434" cy="830997"/>
          </a:xfrm>
          <a:prstGeom prst="rect">
            <a:avLst/>
          </a:prstGeom>
          <a:noFill/>
        </p:spPr>
        <p:txBody>
          <a:bodyPr wrap="none">
            <a:spAutoFit/>
          </a:bodyPr>
          <a:lstStyle/>
          <a:p>
            <a:r>
              <a:rPr sz="1600" b="1" dirty="0"/>
              <a:t>Team Name</a:t>
            </a:r>
            <a:r>
              <a:rPr lang="en-GB" sz="1600" b="1" dirty="0"/>
              <a:t> </a:t>
            </a:r>
            <a:r>
              <a:rPr lang="en-GB" sz="1600" b="0" dirty="0"/>
              <a:t>_________________________</a:t>
            </a:r>
            <a:r>
              <a:rPr sz="1600" b="0" dirty="0"/>
              <a:t>
</a:t>
            </a:r>
            <a:endParaRPr lang="en-GB" sz="1600" b="0" dirty="0"/>
          </a:p>
          <a:p>
            <a:r>
              <a:rPr sz="1600" b="1" dirty="0"/>
              <a:t>Team Members:</a:t>
            </a:r>
          </a:p>
        </p:txBody>
      </p:sp>
      <p:sp>
        <p:nvSpPr>
          <p:cNvPr id="5" name="TextBox 4"/>
          <p:cNvSpPr txBox="1"/>
          <p:nvPr/>
        </p:nvSpPr>
        <p:spPr>
          <a:xfrm>
            <a:off x="5486400" y="2194560"/>
            <a:ext cx="4754563" cy="830997"/>
          </a:xfrm>
          <a:prstGeom prst="rect">
            <a:avLst/>
          </a:prstGeom>
          <a:noFill/>
        </p:spPr>
        <p:txBody>
          <a:bodyPr wrap="square">
            <a:spAutoFit/>
          </a:bodyPr>
          <a:lstStyle/>
          <a:p>
            <a:r>
              <a:rPr sz="1600" b="1" dirty="0"/>
              <a:t>Your Big Idea:</a:t>
            </a:r>
            <a:r>
              <a:rPr sz="1600" b="0" dirty="0"/>
              <a:t>
(What makes your kit exciting?</a:t>
            </a:r>
            <a:r>
              <a:rPr lang="en-GB" sz="1600" b="0" dirty="0"/>
              <a:t> Why do kids enjoy building/using it?</a:t>
            </a:r>
            <a:r>
              <a:rPr sz="1600" b="0" dirty="0"/>
              <a:t>)</a:t>
            </a:r>
          </a:p>
        </p:txBody>
      </p:sp>
      <p:sp>
        <p:nvSpPr>
          <p:cNvPr id="7" name="TextBox 6"/>
          <p:cNvSpPr txBox="1"/>
          <p:nvPr/>
        </p:nvSpPr>
        <p:spPr>
          <a:xfrm>
            <a:off x="457517" y="4445098"/>
            <a:ext cx="9783763" cy="830997"/>
          </a:xfrm>
          <a:prstGeom prst="rect">
            <a:avLst/>
          </a:prstGeom>
          <a:noFill/>
        </p:spPr>
        <p:txBody>
          <a:bodyPr wrap="square">
            <a:spAutoFit/>
          </a:bodyPr>
          <a:lstStyle/>
          <a:p>
            <a:r>
              <a:rPr sz="1600" b="1" dirty="0"/>
              <a:t>How it works:</a:t>
            </a:r>
            <a:r>
              <a:rPr sz="1600" b="0" dirty="0"/>
              <a:t>
What happens when it turns on?</a:t>
            </a:r>
            <a:r>
              <a:rPr lang="en-GB" sz="1600" b="0" dirty="0"/>
              <a:t> </a:t>
            </a:r>
            <a:r>
              <a:rPr sz="1600" b="0" dirty="0"/>
              <a:t>How do you get data</a:t>
            </a:r>
            <a:r>
              <a:rPr lang="en-GB" sz="1600" b="0" dirty="0"/>
              <a:t> off</a:t>
            </a:r>
            <a:r>
              <a:rPr sz="1600" b="0" dirty="0"/>
              <a:t>?</a:t>
            </a:r>
            <a:r>
              <a:rPr lang="en-GB" sz="1600" b="0" dirty="0"/>
              <a:t> What insects do you use it with? Does it use a motion trigger? What sorts of experiments can you do with it?</a:t>
            </a:r>
            <a:endParaRPr sz="1600" b="0" dirty="0"/>
          </a:p>
        </p:txBody>
      </p:sp>
      <p:sp>
        <p:nvSpPr>
          <p:cNvPr id="8" name="TextBox 7"/>
          <p:cNvSpPr txBox="1"/>
          <p:nvPr/>
        </p:nvSpPr>
        <p:spPr>
          <a:xfrm>
            <a:off x="457517" y="6976848"/>
            <a:ext cx="4288353" cy="4278094"/>
          </a:xfrm>
          <a:prstGeom prst="rect">
            <a:avLst/>
          </a:prstGeom>
          <a:noFill/>
        </p:spPr>
        <p:txBody>
          <a:bodyPr wrap="none">
            <a:spAutoFit/>
          </a:bodyPr>
          <a:lstStyle/>
          <a:p>
            <a:r>
              <a:rPr lang="en-GB" sz="1600" b="1" dirty="0"/>
              <a:t>Parts List</a:t>
            </a:r>
            <a:r>
              <a:rPr lang="en-GB" sz="1600" dirty="0"/>
              <a:t>
- ESP32 Cam
- Power Bank
- microSD 
________________________________________
</a:t>
            </a:r>
          </a:p>
          <a:p>
            <a:r>
              <a:rPr lang="en-GB" sz="1600" dirty="0"/>
              <a:t>________________________________________
________________________________________
________________________________________
________________________________________
________________________________________
________________________________________</a:t>
            </a:r>
            <a:endParaRPr sz="1600" b="0" dirty="0"/>
          </a:p>
        </p:txBody>
      </p:sp>
      <p:sp>
        <p:nvSpPr>
          <p:cNvPr id="9" name="TextBox 8"/>
          <p:cNvSpPr txBox="1"/>
          <p:nvPr/>
        </p:nvSpPr>
        <p:spPr>
          <a:xfrm>
            <a:off x="457200" y="11887200"/>
            <a:ext cx="9531264" cy="584775"/>
          </a:xfrm>
          <a:prstGeom prst="rect">
            <a:avLst/>
          </a:prstGeom>
          <a:noFill/>
        </p:spPr>
        <p:txBody>
          <a:bodyPr wrap="none">
            <a:spAutoFit/>
          </a:bodyPr>
          <a:lstStyle/>
          <a:p>
            <a:r>
              <a:rPr sz="1600" b="1" dirty="0"/>
              <a:t>Where </a:t>
            </a:r>
            <a:r>
              <a:rPr lang="en-GB" sz="1600" b="1" dirty="0"/>
              <a:t>does the AI come in? What does it do?</a:t>
            </a:r>
          </a:p>
          <a:p>
            <a:r>
              <a:rPr lang="en-GB" sz="1600" dirty="0"/>
              <a:t>Does it use AI on the device? What does the AI do? Can it identify species? Can it track individuals? Can it count?</a:t>
            </a:r>
            <a:endParaRPr sz="1600" b="0" dirty="0"/>
          </a:p>
        </p:txBody>
      </p:sp>
      <p:sp>
        <p:nvSpPr>
          <p:cNvPr id="14" name="Rectangle 13">
            <a:extLst>
              <a:ext uri="{FF2B5EF4-FFF2-40B4-BE49-F238E27FC236}">
                <a16:creationId xmlns:a16="http://schemas.microsoft.com/office/drawing/2014/main" id="{8651D97F-0E47-BC1B-55A6-D147C7CC1EDD}"/>
              </a:ext>
            </a:extLst>
          </p:cNvPr>
          <p:cNvSpPr/>
          <p:nvPr/>
        </p:nvSpPr>
        <p:spPr>
          <a:xfrm>
            <a:off x="5486717" y="6941552"/>
            <a:ext cx="4754563" cy="4481414"/>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EDC7629C-A64F-EE15-D836-290A6CDFB589}"/>
              </a:ext>
            </a:extLst>
          </p:cNvPr>
          <p:cNvSpPr txBox="1"/>
          <p:nvPr/>
        </p:nvSpPr>
        <p:spPr>
          <a:xfrm>
            <a:off x="5719504" y="6976848"/>
            <a:ext cx="4190378" cy="4278094"/>
          </a:xfrm>
          <a:prstGeom prst="rect">
            <a:avLst/>
          </a:prstGeom>
          <a:noFill/>
        </p:spPr>
        <p:txBody>
          <a:bodyPr wrap="none">
            <a:spAutoFit/>
          </a:bodyPr>
          <a:lstStyle/>
          <a:p>
            <a:r>
              <a:rPr lang="en-GB" sz="1600" b="1" dirty="0"/>
              <a:t>Where is it going to be used </a:t>
            </a:r>
            <a:r>
              <a:rPr lang="en-GB" sz="1600" dirty="0"/>
              <a:t>(tick all that apply)
☐ School playground</a:t>
            </a:r>
            <a:br>
              <a:rPr lang="en-GB" sz="1600" dirty="0"/>
            </a:br>
            <a:r>
              <a:rPr lang="en-GB" sz="1600" dirty="0"/>
              <a:t>☐ Garden</a:t>
            </a:r>
            <a:br>
              <a:rPr lang="en-GB" sz="1600" dirty="0"/>
            </a:br>
            <a:r>
              <a:rPr lang="en-GB" sz="1600" dirty="0"/>
              <a:t>☐ Farm</a:t>
            </a:r>
            <a:br>
              <a:rPr lang="en-GB" sz="1600" dirty="0"/>
            </a:br>
            <a:r>
              <a:rPr lang="en-GB" sz="1600" dirty="0"/>
              <a:t>☐ Woodland</a:t>
            </a:r>
            <a:br>
              <a:rPr lang="en-GB" sz="1600" dirty="0"/>
            </a:br>
            <a:r>
              <a:rPr lang="en-GB" sz="1600" dirty="0"/>
              <a:t>☐ Other: _______</a:t>
            </a:r>
          </a:p>
          <a:p>
            <a:r>
              <a:rPr lang="en-GB" sz="1600" dirty="0"/>
              <a:t>☐ Other: _______ </a:t>
            </a:r>
          </a:p>
          <a:p>
            <a:r>
              <a:rPr lang="en-GB" sz="1600" dirty="0"/>
              <a:t>☐ Other: _______</a:t>
            </a:r>
          </a:p>
          <a:p>
            <a:endParaRPr lang="en-GB" sz="1600" b="0" dirty="0"/>
          </a:p>
          <a:p>
            <a:r>
              <a:rPr lang="en-GB" sz="1600" b="1" dirty="0"/>
              <a:t>Who will be able to build it </a:t>
            </a:r>
            <a:r>
              <a:rPr lang="en-GB" sz="1600" dirty="0"/>
              <a:t>(tick all that apply)</a:t>
            </a:r>
          </a:p>
          <a:p>
            <a:r>
              <a:rPr lang="en-GB" sz="1600" dirty="0"/>
              <a:t>☐ School children (8-12) </a:t>
            </a:r>
            <a:br>
              <a:rPr lang="en-GB" sz="1600" dirty="0"/>
            </a:br>
            <a:r>
              <a:rPr lang="en-GB" sz="1600" dirty="0"/>
              <a:t>☐ School children (12-18) </a:t>
            </a:r>
            <a:br>
              <a:rPr lang="en-GB" sz="1600" dirty="0"/>
            </a:br>
            <a:r>
              <a:rPr lang="en-GB" sz="1600" dirty="0"/>
              <a:t>☐ School children (5-8)</a:t>
            </a:r>
            <a:br>
              <a:rPr lang="en-GB" sz="1600" dirty="0"/>
            </a:br>
            <a:r>
              <a:rPr lang="en-GB" sz="1600" dirty="0"/>
              <a:t>☐ Parents</a:t>
            </a:r>
          </a:p>
          <a:p>
            <a:r>
              <a:rPr lang="en-GB" sz="1600" dirty="0"/>
              <a:t>☐ Teachers</a:t>
            </a:r>
            <a:br>
              <a:rPr lang="en-GB" sz="1600" dirty="0"/>
            </a:br>
            <a:r>
              <a:rPr lang="en-GB" sz="1600" dirty="0"/>
              <a:t>☐ Other: _______</a:t>
            </a:r>
          </a:p>
          <a:p>
            <a:r>
              <a:rPr lang="en-GB" sz="1600" dirty="0"/>
              <a:t>☐ Other: _______ </a:t>
            </a:r>
          </a:p>
        </p:txBody>
      </p:sp>
      <p:pic>
        <p:nvPicPr>
          <p:cNvPr id="18" name="Picture 17" descr="A green rectangle with white letters&#10;&#10;AI-generated content may be incorrect.">
            <a:extLst>
              <a:ext uri="{FF2B5EF4-FFF2-40B4-BE49-F238E27FC236}">
                <a16:creationId xmlns:a16="http://schemas.microsoft.com/office/drawing/2014/main" id="{46A8BCCF-D705-1C6A-D928-4281E4F66C3B}"/>
              </a:ext>
            </a:extLst>
          </p:cNvPr>
          <p:cNvPicPr>
            <a:picLocks noChangeAspect="1"/>
          </p:cNvPicPr>
          <p:nvPr/>
        </p:nvPicPr>
        <p:blipFill>
          <a:blip r:embed="rId2"/>
          <a:stretch>
            <a:fillRect/>
          </a:stretch>
        </p:blipFill>
        <p:spPr>
          <a:xfrm>
            <a:off x="456882" y="14173199"/>
            <a:ext cx="3784117" cy="812514"/>
          </a:xfrm>
          <a:prstGeom prst="rect">
            <a:avLst/>
          </a:prstGeom>
        </p:spPr>
      </p:pic>
      <p:pic>
        <p:nvPicPr>
          <p:cNvPr id="24" name="Picture 23" descr="A grey logo with white text&#10;&#10;AI-generated content may be incorrect.">
            <a:extLst>
              <a:ext uri="{FF2B5EF4-FFF2-40B4-BE49-F238E27FC236}">
                <a16:creationId xmlns:a16="http://schemas.microsoft.com/office/drawing/2014/main" id="{C08959B6-93F0-F845-A7C2-7084B9AF8740}"/>
              </a:ext>
            </a:extLst>
          </p:cNvPr>
          <p:cNvPicPr>
            <a:picLocks noChangeAspect="1"/>
          </p:cNvPicPr>
          <p:nvPr/>
        </p:nvPicPr>
        <p:blipFill>
          <a:blip r:embed="rId3"/>
          <a:stretch>
            <a:fillRect/>
          </a:stretch>
        </p:blipFill>
        <p:spPr>
          <a:xfrm>
            <a:off x="4978089" y="14069282"/>
            <a:ext cx="2086401" cy="979301"/>
          </a:xfrm>
          <a:prstGeom prst="rect">
            <a:avLst/>
          </a:prstGeom>
        </p:spPr>
      </p:pic>
      <p:pic>
        <p:nvPicPr>
          <p:cNvPr id="28" name="Picture 27" descr="Blue text on a black background&#10;&#10;AI-generated content may be incorrect.">
            <a:extLst>
              <a:ext uri="{FF2B5EF4-FFF2-40B4-BE49-F238E27FC236}">
                <a16:creationId xmlns:a16="http://schemas.microsoft.com/office/drawing/2014/main" id="{2BD59A23-972E-FAD3-6BE3-75BE80155423}"/>
              </a:ext>
            </a:extLst>
          </p:cNvPr>
          <p:cNvPicPr>
            <a:picLocks noChangeAspect="1"/>
          </p:cNvPicPr>
          <p:nvPr/>
        </p:nvPicPr>
        <p:blipFill>
          <a:blip r:embed="rId4"/>
          <a:stretch>
            <a:fillRect/>
          </a:stretch>
        </p:blipFill>
        <p:spPr>
          <a:xfrm>
            <a:off x="8154561" y="14340075"/>
            <a:ext cx="2086402" cy="437717"/>
          </a:xfrm>
          <a:prstGeom prst="rect">
            <a:avLst/>
          </a:prstGeom>
        </p:spPr>
      </p:pic>
      <p:pic>
        <p:nvPicPr>
          <p:cNvPr id="29" name="Picture 28">
            <a:extLst>
              <a:ext uri="{FF2B5EF4-FFF2-40B4-BE49-F238E27FC236}">
                <a16:creationId xmlns:a16="http://schemas.microsoft.com/office/drawing/2014/main" id="{86DA2076-EAE0-EBC8-F55D-BB76417DA83E}"/>
              </a:ext>
            </a:extLst>
          </p:cNvPr>
          <p:cNvPicPr>
            <a:picLocks noChangeAspect="1"/>
          </p:cNvPicPr>
          <p:nvPr/>
        </p:nvPicPr>
        <p:blipFill>
          <a:blip r:embed="rId5"/>
          <a:stretch>
            <a:fillRect/>
          </a:stretch>
        </p:blipFill>
        <p:spPr>
          <a:xfrm>
            <a:off x="1905793" y="7119375"/>
            <a:ext cx="921813" cy="971537"/>
          </a:xfrm>
          <a:prstGeom prst="rect">
            <a:avLst/>
          </a:prstGeom>
        </p:spPr>
      </p:pic>
      <p:pic>
        <p:nvPicPr>
          <p:cNvPr id="30" name="Picture 29">
            <a:extLst>
              <a:ext uri="{FF2B5EF4-FFF2-40B4-BE49-F238E27FC236}">
                <a16:creationId xmlns:a16="http://schemas.microsoft.com/office/drawing/2014/main" id="{1E836541-92A4-4571-23D9-42C00AB5C1C7}"/>
              </a:ext>
            </a:extLst>
          </p:cNvPr>
          <p:cNvPicPr>
            <a:picLocks noChangeAspect="1"/>
          </p:cNvPicPr>
          <p:nvPr/>
        </p:nvPicPr>
        <p:blipFill>
          <a:blip r:embed="rId6"/>
          <a:stretch>
            <a:fillRect/>
          </a:stretch>
        </p:blipFill>
        <p:spPr>
          <a:xfrm>
            <a:off x="2916238" y="7119375"/>
            <a:ext cx="1230419" cy="1015989"/>
          </a:xfrm>
          <a:prstGeom prst="rect">
            <a:avLst/>
          </a:prstGeom>
        </p:spPr>
      </p:pic>
      <p:pic>
        <p:nvPicPr>
          <p:cNvPr id="31" name="Picture 30">
            <a:extLst>
              <a:ext uri="{FF2B5EF4-FFF2-40B4-BE49-F238E27FC236}">
                <a16:creationId xmlns:a16="http://schemas.microsoft.com/office/drawing/2014/main" id="{EAB13D72-1961-6C64-D920-7C2A912AB992}"/>
              </a:ext>
            </a:extLst>
          </p:cNvPr>
          <p:cNvPicPr>
            <a:picLocks noChangeAspect="1"/>
          </p:cNvPicPr>
          <p:nvPr/>
        </p:nvPicPr>
        <p:blipFill>
          <a:blip r:embed="rId7"/>
          <a:stretch>
            <a:fillRect/>
          </a:stretch>
        </p:blipFill>
        <p:spPr>
          <a:xfrm rot="16200000">
            <a:off x="4187957" y="7096424"/>
            <a:ext cx="971640" cy="10159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3DAB-0BE1-877D-A382-2998722738FB}"/>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F7C884A8-D154-572F-BCC4-82E1146822B1}"/>
              </a:ext>
            </a:extLst>
          </p:cNvPr>
          <p:cNvSpPr/>
          <p:nvPr/>
        </p:nvSpPr>
        <p:spPr>
          <a:xfrm>
            <a:off x="456882" y="11738521"/>
            <a:ext cx="9784398" cy="2285999"/>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6E97B4FA-E577-057D-13F3-3BCACB5E0A7C}"/>
              </a:ext>
            </a:extLst>
          </p:cNvPr>
          <p:cNvSpPr/>
          <p:nvPr/>
        </p:nvSpPr>
        <p:spPr>
          <a:xfrm>
            <a:off x="457517" y="4437461"/>
            <a:ext cx="9783763" cy="6985505"/>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8DD2977E-BCCF-9C78-7750-99FEA88775D0}"/>
              </a:ext>
            </a:extLst>
          </p:cNvPr>
          <p:cNvSpPr/>
          <p:nvPr/>
        </p:nvSpPr>
        <p:spPr>
          <a:xfrm>
            <a:off x="5486717" y="2214183"/>
            <a:ext cx="4754563" cy="1969890"/>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6EE9DD8-F042-B21D-1691-0EB00F18044D}"/>
              </a:ext>
            </a:extLst>
          </p:cNvPr>
          <p:cNvSpPr/>
          <p:nvPr/>
        </p:nvSpPr>
        <p:spPr>
          <a:xfrm>
            <a:off x="457200" y="2133071"/>
            <a:ext cx="4754563" cy="2051002"/>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6D823881-F10A-42CE-89D2-4AFA556967C8}"/>
              </a:ext>
            </a:extLst>
          </p:cNvPr>
          <p:cNvSpPr txBox="1"/>
          <p:nvPr/>
        </p:nvSpPr>
        <p:spPr>
          <a:xfrm>
            <a:off x="2295688" y="437599"/>
            <a:ext cx="6106801" cy="615553"/>
          </a:xfrm>
          <a:prstGeom prst="rect">
            <a:avLst/>
          </a:prstGeom>
          <a:noFill/>
        </p:spPr>
        <p:txBody>
          <a:bodyPr wrap="none">
            <a:spAutoFit/>
          </a:bodyPr>
          <a:lstStyle/>
          <a:p>
            <a:pPr algn="ctr"/>
            <a:r>
              <a:rPr lang="en-GB" sz="3400" b="1" dirty="0"/>
              <a:t>Design the classroom experience</a:t>
            </a:r>
            <a:endParaRPr sz="3400" b="1" dirty="0"/>
          </a:p>
        </p:txBody>
      </p:sp>
      <p:sp>
        <p:nvSpPr>
          <p:cNvPr id="3" name="TextBox 2">
            <a:extLst>
              <a:ext uri="{FF2B5EF4-FFF2-40B4-BE49-F238E27FC236}">
                <a16:creationId xmlns:a16="http://schemas.microsoft.com/office/drawing/2014/main" id="{8D22CAD4-2BF5-FA4A-00A2-549A1CCC2D17}"/>
              </a:ext>
            </a:extLst>
          </p:cNvPr>
          <p:cNvSpPr txBox="1"/>
          <p:nvPr/>
        </p:nvSpPr>
        <p:spPr>
          <a:xfrm>
            <a:off x="457200" y="1280160"/>
            <a:ext cx="9784080" cy="369332"/>
          </a:xfrm>
          <a:prstGeom prst="rect">
            <a:avLst/>
          </a:prstGeom>
          <a:noFill/>
        </p:spPr>
        <p:txBody>
          <a:bodyPr wrap="square">
            <a:spAutoFit/>
          </a:bodyPr>
          <a:lstStyle/>
          <a:p>
            <a:pPr algn="ctr"/>
            <a:r>
              <a:rPr lang="en-GB" b="0" dirty="0"/>
              <a:t>How will a teacher use your kit in a 45-minute class?</a:t>
            </a:r>
            <a:endParaRPr b="1" dirty="0"/>
          </a:p>
        </p:txBody>
      </p:sp>
      <p:sp>
        <p:nvSpPr>
          <p:cNvPr id="4" name="TextBox 3">
            <a:extLst>
              <a:ext uri="{FF2B5EF4-FFF2-40B4-BE49-F238E27FC236}">
                <a16:creationId xmlns:a16="http://schemas.microsoft.com/office/drawing/2014/main" id="{60AD123B-D88D-1FA1-2398-0F35AE2D9574}"/>
              </a:ext>
            </a:extLst>
          </p:cNvPr>
          <p:cNvSpPr txBox="1"/>
          <p:nvPr/>
        </p:nvSpPr>
        <p:spPr>
          <a:xfrm>
            <a:off x="457200" y="2320682"/>
            <a:ext cx="4801314" cy="1815882"/>
          </a:xfrm>
          <a:prstGeom prst="rect">
            <a:avLst/>
          </a:prstGeom>
          <a:noFill/>
        </p:spPr>
        <p:txBody>
          <a:bodyPr wrap="none">
            <a:spAutoFit/>
          </a:bodyPr>
          <a:lstStyle/>
          <a:p>
            <a:r>
              <a:rPr lang="en-GB" sz="1600" b="1" dirty="0"/>
              <a:t>Lesson title </a:t>
            </a:r>
            <a:r>
              <a:rPr lang="en-GB" sz="1600" b="0" dirty="0"/>
              <a:t>___________________________________</a:t>
            </a:r>
            <a:r>
              <a:rPr sz="1600" b="0" dirty="0"/>
              <a:t>
</a:t>
            </a:r>
            <a:endParaRPr lang="en-GB" sz="1600" b="0" dirty="0"/>
          </a:p>
          <a:p>
            <a:r>
              <a:rPr lang="en-GB" sz="1600" dirty="0"/>
              <a:t>_____________________________________________</a:t>
            </a:r>
          </a:p>
          <a:p>
            <a:endParaRPr lang="en-GB" sz="1600" b="0" dirty="0"/>
          </a:p>
          <a:p>
            <a:r>
              <a:rPr lang="en-GB" sz="1600" b="1" dirty="0"/>
              <a:t>Age group ____________________________________</a:t>
            </a:r>
          </a:p>
          <a:p>
            <a:endParaRPr lang="en-GB" sz="1600" b="1" dirty="0"/>
          </a:p>
          <a:p>
            <a:endParaRPr sz="1600" b="1" dirty="0"/>
          </a:p>
        </p:txBody>
      </p:sp>
      <p:sp>
        <p:nvSpPr>
          <p:cNvPr id="5" name="TextBox 4">
            <a:extLst>
              <a:ext uri="{FF2B5EF4-FFF2-40B4-BE49-F238E27FC236}">
                <a16:creationId xmlns:a16="http://schemas.microsoft.com/office/drawing/2014/main" id="{47088F8A-9566-E9F6-4860-DA0E8A614943}"/>
              </a:ext>
            </a:extLst>
          </p:cNvPr>
          <p:cNvSpPr txBox="1"/>
          <p:nvPr/>
        </p:nvSpPr>
        <p:spPr>
          <a:xfrm>
            <a:off x="5486400" y="2194560"/>
            <a:ext cx="4754563" cy="1815882"/>
          </a:xfrm>
          <a:prstGeom prst="rect">
            <a:avLst/>
          </a:prstGeom>
          <a:noFill/>
        </p:spPr>
        <p:txBody>
          <a:bodyPr wrap="square">
            <a:spAutoFit/>
          </a:bodyPr>
          <a:lstStyle/>
          <a:p>
            <a:r>
              <a:rPr lang="en-GB" sz="1600" b="1" dirty="0"/>
              <a:t>By the end of the lesson, students will:</a:t>
            </a:r>
          </a:p>
          <a:p>
            <a:endParaRPr lang="en-GB" sz="1600" dirty="0"/>
          </a:p>
          <a:p>
            <a:r>
              <a:rPr lang="en-GB" sz="1600" dirty="0"/>
              <a:t>Understand: _________________________________</a:t>
            </a:r>
          </a:p>
          <a:p>
            <a:endParaRPr lang="en-GB" sz="1600" dirty="0"/>
          </a:p>
          <a:p>
            <a:r>
              <a:rPr lang="en-GB" sz="1600" dirty="0"/>
              <a:t>Be able to: __________________________________</a:t>
            </a:r>
          </a:p>
          <a:p>
            <a:endParaRPr lang="en-GB" sz="1600" dirty="0"/>
          </a:p>
          <a:p>
            <a:r>
              <a:rPr lang="en-GB" sz="1600" dirty="0"/>
              <a:t>Discover: ___________________________________</a:t>
            </a:r>
            <a:endParaRPr sz="1600" dirty="0"/>
          </a:p>
        </p:txBody>
      </p:sp>
      <p:sp>
        <p:nvSpPr>
          <p:cNvPr id="7" name="TextBox 6">
            <a:extLst>
              <a:ext uri="{FF2B5EF4-FFF2-40B4-BE49-F238E27FC236}">
                <a16:creationId xmlns:a16="http://schemas.microsoft.com/office/drawing/2014/main" id="{FA95A064-ED08-F36A-1B45-DC6E458592A0}"/>
              </a:ext>
            </a:extLst>
          </p:cNvPr>
          <p:cNvSpPr txBox="1"/>
          <p:nvPr/>
        </p:nvSpPr>
        <p:spPr>
          <a:xfrm>
            <a:off x="457517" y="4445098"/>
            <a:ext cx="9783763" cy="830997"/>
          </a:xfrm>
          <a:prstGeom prst="rect">
            <a:avLst/>
          </a:prstGeom>
          <a:noFill/>
        </p:spPr>
        <p:txBody>
          <a:bodyPr wrap="square">
            <a:spAutoFit/>
          </a:bodyPr>
          <a:lstStyle/>
          <a:p>
            <a:r>
              <a:rPr lang="en-GB" sz="1600" b="1" dirty="0"/>
              <a:t>Sketch your kit in action</a:t>
            </a:r>
            <a:endParaRPr lang="en-GB" sz="1600" dirty="0"/>
          </a:p>
          <a:p>
            <a:r>
              <a:rPr lang="en-GB" sz="1600" dirty="0"/>
              <a:t>Where is the camera? How is it powered? Where are insects? How do kids interact with it? How do they interact with the data? What is the AI doing? What are the children learning?</a:t>
            </a:r>
          </a:p>
        </p:txBody>
      </p:sp>
      <p:sp>
        <p:nvSpPr>
          <p:cNvPr id="9" name="TextBox 8">
            <a:extLst>
              <a:ext uri="{FF2B5EF4-FFF2-40B4-BE49-F238E27FC236}">
                <a16:creationId xmlns:a16="http://schemas.microsoft.com/office/drawing/2014/main" id="{95CCACA1-993C-7DB3-C366-71D22E163C82}"/>
              </a:ext>
            </a:extLst>
          </p:cNvPr>
          <p:cNvSpPr txBox="1"/>
          <p:nvPr/>
        </p:nvSpPr>
        <p:spPr>
          <a:xfrm>
            <a:off x="457200" y="11887200"/>
            <a:ext cx="5176097" cy="338554"/>
          </a:xfrm>
          <a:prstGeom prst="rect">
            <a:avLst/>
          </a:prstGeom>
          <a:noFill/>
        </p:spPr>
        <p:txBody>
          <a:bodyPr wrap="none">
            <a:spAutoFit/>
          </a:bodyPr>
          <a:lstStyle/>
          <a:p>
            <a:r>
              <a:rPr lang="en-GB" sz="1600" b="1" dirty="0"/>
              <a:t>What one thing will make your kit stand out from the rest?</a:t>
            </a:r>
            <a:endParaRPr sz="1600" b="0" dirty="0"/>
          </a:p>
        </p:txBody>
      </p:sp>
      <p:pic>
        <p:nvPicPr>
          <p:cNvPr id="18" name="Picture 17" descr="A green rectangle with white letters&#10;&#10;AI-generated content may be incorrect.">
            <a:extLst>
              <a:ext uri="{FF2B5EF4-FFF2-40B4-BE49-F238E27FC236}">
                <a16:creationId xmlns:a16="http://schemas.microsoft.com/office/drawing/2014/main" id="{736C9DF1-CDBE-D34E-7562-065D7A1223D8}"/>
              </a:ext>
            </a:extLst>
          </p:cNvPr>
          <p:cNvPicPr>
            <a:picLocks noChangeAspect="1"/>
          </p:cNvPicPr>
          <p:nvPr/>
        </p:nvPicPr>
        <p:blipFill>
          <a:blip r:embed="rId2"/>
          <a:stretch>
            <a:fillRect/>
          </a:stretch>
        </p:blipFill>
        <p:spPr>
          <a:xfrm>
            <a:off x="456882" y="14173199"/>
            <a:ext cx="3784117" cy="812514"/>
          </a:xfrm>
          <a:prstGeom prst="rect">
            <a:avLst/>
          </a:prstGeom>
        </p:spPr>
      </p:pic>
      <p:pic>
        <p:nvPicPr>
          <p:cNvPr id="24" name="Picture 23" descr="A grey logo with white text&#10;&#10;AI-generated content may be incorrect.">
            <a:extLst>
              <a:ext uri="{FF2B5EF4-FFF2-40B4-BE49-F238E27FC236}">
                <a16:creationId xmlns:a16="http://schemas.microsoft.com/office/drawing/2014/main" id="{F43EAF0E-7493-F26B-59A3-20CE5D23F4FA}"/>
              </a:ext>
            </a:extLst>
          </p:cNvPr>
          <p:cNvPicPr>
            <a:picLocks noChangeAspect="1"/>
          </p:cNvPicPr>
          <p:nvPr/>
        </p:nvPicPr>
        <p:blipFill>
          <a:blip r:embed="rId3"/>
          <a:stretch>
            <a:fillRect/>
          </a:stretch>
        </p:blipFill>
        <p:spPr>
          <a:xfrm>
            <a:off x="4978089" y="14069282"/>
            <a:ext cx="2086401" cy="979301"/>
          </a:xfrm>
          <a:prstGeom prst="rect">
            <a:avLst/>
          </a:prstGeom>
        </p:spPr>
      </p:pic>
      <p:pic>
        <p:nvPicPr>
          <p:cNvPr id="28" name="Picture 27" descr="Blue text on a black background&#10;&#10;AI-generated content may be incorrect.">
            <a:extLst>
              <a:ext uri="{FF2B5EF4-FFF2-40B4-BE49-F238E27FC236}">
                <a16:creationId xmlns:a16="http://schemas.microsoft.com/office/drawing/2014/main" id="{BEF22F64-C2EB-596B-04A9-C6D5407FB478}"/>
              </a:ext>
            </a:extLst>
          </p:cNvPr>
          <p:cNvPicPr>
            <a:picLocks noChangeAspect="1"/>
          </p:cNvPicPr>
          <p:nvPr/>
        </p:nvPicPr>
        <p:blipFill>
          <a:blip r:embed="rId4"/>
          <a:stretch>
            <a:fillRect/>
          </a:stretch>
        </p:blipFill>
        <p:spPr>
          <a:xfrm>
            <a:off x="8154561" y="14340075"/>
            <a:ext cx="2086402" cy="437717"/>
          </a:xfrm>
          <a:prstGeom prst="rect">
            <a:avLst/>
          </a:prstGeom>
        </p:spPr>
      </p:pic>
    </p:spTree>
    <p:extLst>
      <p:ext uri="{BB962C8B-B14F-4D97-AF65-F5344CB8AC3E}">
        <p14:creationId xmlns:p14="http://schemas.microsoft.com/office/powerpoint/2010/main" val="25594724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193</TotalTime>
  <Words>382</Words>
  <Application>Microsoft Office PowerPoint</Application>
  <PresentationFormat>Custom</PresentationFormat>
  <Paragraphs>34</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August</dc:creator>
  <cp:keywords/>
  <dc:description>generated using python-pptx</dc:description>
  <cp:lastModifiedBy>Tom August</cp:lastModifiedBy>
  <cp:revision>4</cp:revision>
  <dcterms:created xsi:type="dcterms:W3CDTF">2013-01-27T09:14:16Z</dcterms:created>
  <dcterms:modified xsi:type="dcterms:W3CDTF">2026-04-13T19:19:36Z</dcterms:modified>
  <cp:category/>
</cp:coreProperties>
</file>